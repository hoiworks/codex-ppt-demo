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628e0ebfe0429b" /><Relationship Type="http://schemas.openxmlformats.org/officeDocument/2006/relationships/extended-properties" Target="/docProps/app.xml" Id="R3bce76fe912c4491" /><Relationship Type="http://schemas.openxmlformats.org/officeDocument/2006/relationships/officeDocument" Target="/ppt/presentation.xml" Id="R3218123f8aa14b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1acc097d6742fe"/>
  </p:sldMasterIdLst>
  <p:notesMasterIdLst>
    <p:notesMasterId xmlns:r="http://schemas.openxmlformats.org/officeDocument/2006/relationships" r:id="R5bd8d2874afe4f75"/>
  </p:notesMasterIdLst>
  <p:sldIdLst>
    <p:sldId xmlns:r="http://schemas.openxmlformats.org/officeDocument/2006/relationships" id="256" r:id="R138acfda84cc4554"/>
    <p:sldId xmlns:r="http://schemas.openxmlformats.org/officeDocument/2006/relationships" id="257" r:id="R0211bd700f1b49b8"/>
    <p:sldId xmlns:r="http://schemas.openxmlformats.org/officeDocument/2006/relationships" id="258" r:id="R7563c96961fd4124"/>
    <p:sldId xmlns:r="http://schemas.openxmlformats.org/officeDocument/2006/relationships" id="259" r:id="R48ab50dd49394e4e"/>
    <p:sldId xmlns:r="http://schemas.openxmlformats.org/officeDocument/2006/relationships" id="260" r:id="Rb0d4a9c7bfe945d1"/>
    <p:sldId xmlns:r="http://schemas.openxmlformats.org/officeDocument/2006/relationships" id="261" r:id="R1ed0663b561346af"/>
    <p:sldId xmlns:r="http://schemas.openxmlformats.org/officeDocument/2006/relationships" id="262" r:id="R7ea6d37d7ca240f0"/>
    <p:sldId xmlns:r="http://schemas.openxmlformats.org/officeDocument/2006/relationships" id="263" r:id="R2676c876f3e54971"/>
    <p:sldId xmlns:r="http://schemas.openxmlformats.org/officeDocument/2006/relationships" id="264" r:id="R5408ead481694e43"/>
    <p:sldId xmlns:r="http://schemas.openxmlformats.org/officeDocument/2006/relationships" id="265" r:id="Red68f1047a65429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194e04e5004a1a" /><Relationship Type="http://schemas.openxmlformats.org/officeDocument/2006/relationships/slideMaster" Target="/ppt/slideMasters/slideMaster1.xml" Id="R321acc097d6742fe" /><Relationship Type="http://schemas.openxmlformats.org/officeDocument/2006/relationships/notesMaster" Target="/ppt/notesMasters/notesMaster1.xml" Id="R5bd8d2874afe4f75" /><Relationship Type="http://schemas.openxmlformats.org/officeDocument/2006/relationships/presProps" Target="/ppt/presProps.xml" Id="Ra3d072c3d6234249" /><Relationship Type="http://schemas.openxmlformats.org/officeDocument/2006/relationships/tableStyles" Target="/ppt/tableStyles.xml" Id="Rb506f55c460448cb" /><Relationship Type="http://schemas.openxmlformats.org/officeDocument/2006/relationships/slide" Target="/ppt/slides/slide1.xml" Id="R138acfda84cc4554" /><Relationship Type="http://schemas.openxmlformats.org/officeDocument/2006/relationships/slide" Target="/ppt/slides/slide2.xml" Id="R0211bd700f1b49b8" /><Relationship Type="http://schemas.openxmlformats.org/officeDocument/2006/relationships/slide" Target="/ppt/slides/slide3.xml" Id="R7563c96961fd4124" /><Relationship Type="http://schemas.openxmlformats.org/officeDocument/2006/relationships/slide" Target="/ppt/slides/slide4.xml" Id="R48ab50dd49394e4e" /><Relationship Type="http://schemas.openxmlformats.org/officeDocument/2006/relationships/slide" Target="/ppt/slides/slide5.xml" Id="Rb0d4a9c7bfe945d1" /><Relationship Type="http://schemas.openxmlformats.org/officeDocument/2006/relationships/slide" Target="/ppt/slides/slide6.xml" Id="R1ed0663b561346af" /><Relationship Type="http://schemas.openxmlformats.org/officeDocument/2006/relationships/slide" Target="/ppt/slides/slide7.xml" Id="R7ea6d37d7ca240f0" /><Relationship Type="http://schemas.openxmlformats.org/officeDocument/2006/relationships/slide" Target="/ppt/slides/slide8.xml" Id="R2676c876f3e54971" /><Relationship Type="http://schemas.openxmlformats.org/officeDocument/2006/relationships/slide" Target="/ppt/slides/slide9.xml" Id="R5408ead481694e43" /><Relationship Type="http://schemas.openxmlformats.org/officeDocument/2006/relationships/slide" Target="/ppt/slides/slide10.xml" Id="Red68f1047a6542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c7459f1bfc42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39361b3913494e" /><Relationship Type="http://schemas.openxmlformats.org/officeDocument/2006/relationships/notesMaster" Target="/ppt/notesMasters/notesMaster1.xml" Id="R4d737b78015144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978b9f40784e9f" /><Relationship Type="http://schemas.openxmlformats.org/officeDocument/2006/relationships/notesMaster" Target="/ppt/notesMasters/notesMaster1.xml" Id="R36165b39185948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1c2e7cd74c4bd1" /><Relationship Type="http://schemas.openxmlformats.org/officeDocument/2006/relationships/notesMaster" Target="/ppt/notesMasters/notesMaster1.xml" Id="R62d22069efc94b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df32d4d3374cd1" /><Relationship Type="http://schemas.openxmlformats.org/officeDocument/2006/relationships/notesMaster" Target="/ppt/notesMasters/notesMaster1.xml" Id="Rcecc624b609b45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f91e0b1f9349e8" /><Relationship Type="http://schemas.openxmlformats.org/officeDocument/2006/relationships/notesMaster" Target="/ppt/notesMasters/notesMaster1.xml" Id="Ra58b60e846e74e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bcd9fa6f5546c0" /><Relationship Type="http://schemas.openxmlformats.org/officeDocument/2006/relationships/notesMaster" Target="/ppt/notesMasters/notesMaster1.xml" Id="R3e715e98fb8243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0d4444f8d04f6d" /><Relationship Type="http://schemas.openxmlformats.org/officeDocument/2006/relationships/notesMaster" Target="/ppt/notesMasters/notesMaster1.xml" Id="R0fb795a105674b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9b0fe27f6940c6" /><Relationship Type="http://schemas.openxmlformats.org/officeDocument/2006/relationships/notesMaster" Target="/ppt/notesMasters/notesMaster1.xml" Id="Rbc05e853490c4b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d286d7ad584147" /><Relationship Type="http://schemas.openxmlformats.org/officeDocument/2006/relationships/notesMaster" Target="/ppt/notesMasters/notesMaster1.xml" Id="R15df423db09643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e821886cf84bd5" /><Relationship Type="http://schemas.openxmlformats.org/officeDocument/2006/relationships/notesMaster" Target="/ppt/notesMasters/notesMaster1.xml" Id="R3eaecfb3bdf349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표지는 도구 소개가 아니라 반복 업무를 줄이는 구조 제안임을 강조한다.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McKinsey 수치는 시장 잠재력 근거로만 사용하고, 고객사 직접 효과로 과장하지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업종 특화 페인포인트를 구체화한다. 실제 고객사가 있으면 문의 로그와 상품 등록 방식을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Baymard의 평균 이탈률과 이탈 이유를 제시하고, 자동화가 해결할 수 있는 문구/응대/정책 안내 영역으로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반품률은 전체 리테일 자료임을 밝히고, 여성용 가방몰의 반복 문의/반품 사유 관리 필요성과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Codex가 초안을 만들고 직원이 승인하는 human-in-the-loop 구조를 강조한다.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적용 영역은 구현 가능한 업무 초안 중심으로 설명한다. 실제 연동 대상은 고객사 도구 확인 후 확정한다.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4주 로드맵은 고객사가 준비할 자료와 컨설턴트 산출물을 분명하게 보여준다.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수치 목표는 고객사 현황 진단 후 확정한다. 이 슬라이드는 관리할 지표 목록이다.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</a:t>
            </a:r>
          </a:p>
          <a:p xmlns:a="http://schemas.openxmlformats.org/drawingml/2006/main">
            <a:r>
              <a:t>Access date: 2026-06-23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Baymard Institute, 50 Cart Abandonment Rate Statistics 2026, https://baymard.com/lists/cart-abandonment-rate</a:t>
            </a:r>
          </a:p>
          <a:p xmlns:a="http://schemas.openxmlformats.org/drawingml/2006/main">
            <a:r>
              <a:t>- Used on slides 4 and 9. Claims: 70.22% average documented online shopping cart abandonment rate; 39% extra costs too high; 21% delivery too slow; 19% payment trust; 18% long/complicated checkout.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McKinsey, Generative AI: Unlocking the future of fashion, https://www.mckinsey.com/industries/retail/our-insights/generative-ai-unlocking-the-future-of-fashion</a:t>
            </a:r>
          </a:p>
          <a:p xmlns:a="http://schemas.openxmlformats.org/drawingml/2006/main">
            <a:r>
              <a:t>- Used on slides 2, 6, 7. Claims: generative AI could add $150B-$275B to apparel, fashion and luxury operating profits; use cases include marketing, sales/customer experience, supply chain/logistics and returns.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MarketWatch citing NRF returns report, Free returns are not a given anymore, https://www.marketwatch.com/story/free-returns-are-not-a-given-anymore-as-retailers-deal-with-rising-costs-c2e50de0</a:t>
            </a:r>
          </a:p>
          <a:p xmlns:a="http://schemas.openxmlformats.org/drawingml/2006/main">
            <a:r>
              <a:t>- Used on slide 5. Claims: retailers expect 15.8% of sales to come back as returns in 2025, $849.9B; 2024 return rate 16.9%, $890B.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Salesforce, State of the AI Connected Customer, https://www.salesforce.com/resources/research-reports/state-of-the-ai-connected-customer/</a:t>
            </a:r>
          </a:p>
          <a:p xmlns:a="http://schemas.openxmlformats.org/drawingml/2006/main">
            <a:r>
              <a:t>- Used on slides 5 and 10. Directional support for transparent AI use, trust and human handoff in customer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User-provided image assets</a:t>
            </a:r>
          </a:p>
          <a:p xmlns:a="http://schemas.openxmlformats.org/drawingml/2006/main">
            <a:r>
              <a:t>- assets/cover-image.png: verified in assets folder and inserted on slide 1.</a:t>
            </a:r>
          </a:p>
          <a:p xmlns:a="http://schemas.openxmlformats.org/drawingml/2006/main">
            <a:r>
              <a:t>- assets/workflow-image.png: verified in assets folder and inserted on slide 7.</a:t>
            </a:r>
          </a:p>
          <a:p xmlns:a="http://schemas.openxmlformats.org/drawingml/2006/main">
            <a:r>
              <a:t>- assets/workshop-image.png: verified in assets folder and inserted on slide 9.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9027d0ea8040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e66a2a192f44da" /><Relationship Type="http://schemas.openxmlformats.org/officeDocument/2006/relationships/slideLayout" Target="/ppt/slideLayouts/slideLayout1.xml" Id="R2935493c40f748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35493c40f748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710cb056248a9" /><Relationship Type="http://schemas.openxmlformats.org/officeDocument/2006/relationships/image" Target="/ppt/media/image.png" Id="R16e6717143264916" /><Relationship Type="http://schemas.openxmlformats.org/officeDocument/2006/relationships/notesSlide" Target="/ppt/notesSlides/notesSlide1.xml" Id="R280d912800e84f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f512319cd4c1b" /><Relationship Type="http://schemas.openxmlformats.org/officeDocument/2006/relationships/notesSlide" Target="/ppt/notesSlides/notesSlide2.xml" Id="Re8af3a2f60074c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d619518a84151" /><Relationship Type="http://schemas.openxmlformats.org/officeDocument/2006/relationships/notesSlide" Target="/ppt/notesSlides/notesSlide3.xml" Id="Rd3f0720809684d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2b26b9d454430" /><Relationship Type="http://schemas.openxmlformats.org/officeDocument/2006/relationships/notesSlide" Target="/ppt/notesSlides/notesSlide4.xml" Id="R0c4238635a6e45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f2ec5fc2b4720" /><Relationship Type="http://schemas.openxmlformats.org/officeDocument/2006/relationships/notesSlide" Target="/ppt/notesSlides/notesSlide5.xml" Id="Rd2279ffd368d49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baa1f778f41e5" /><Relationship Type="http://schemas.openxmlformats.org/officeDocument/2006/relationships/notesSlide" Target="/ppt/notesSlides/notesSlide6.xml" Id="R90a82f4228f648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7c442ea7c4d15" /><Relationship Type="http://schemas.openxmlformats.org/officeDocument/2006/relationships/image" Target="/ppt/media/image2.png" Id="Rb32dbf3f00584f0a" /><Relationship Type="http://schemas.openxmlformats.org/officeDocument/2006/relationships/notesSlide" Target="/ppt/notesSlides/notesSlide7.xml" Id="R60fc8c44502346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dc9bc1b3548a6" /><Relationship Type="http://schemas.openxmlformats.org/officeDocument/2006/relationships/notesSlide" Target="/ppt/notesSlides/notesSlide8.xml" Id="Rbf791747a6434a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504a2071f4929" /><Relationship Type="http://schemas.openxmlformats.org/officeDocument/2006/relationships/image" Target="/ppt/media/image3.png" Id="R7605c44fd7974c26" /><Relationship Type="http://schemas.openxmlformats.org/officeDocument/2006/relationships/notesSlide" Target="/ppt/notesSlides/notesSlide9.xml" Id="Rc02ff136f49944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11049754b4b8b" /><Relationship Type="http://schemas.openxmlformats.org/officeDocument/2006/relationships/notesSlide" Target="/ppt/notesSlides/notesSlide10.xml" Id="R207d738d5dba45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39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6717143264916"/>
          <a:srcRect xmlns:a="http://schemas.openxmlformats.org/drawingml/2006/main" l="19695" t="0" r="196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762000"/>
            <a:ext cx="5334000" cy="49530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4FE1C-8F48-47DF-8456-53C2279C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E9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4E9E2"/>
                </a:solidFill>
                <a:latin typeface="Aptos"/>
                <a:ea typeface="Aptos"/>
                <a:cs typeface="Aptos"/>
              </a:rPr>
              <a:t>AI 자동화 컨설팅 제안서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0F6AC-1AE9-4F24-90B3-D7AEAE62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33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여성용 가방몰의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반복 업무를 줄이는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업무 자동화 제안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A2072-EE0A-441B-BC05-535DC256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F3E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6F3EE"/>
                </a:solidFill>
                <a:latin typeface="Aptos"/>
                <a:ea typeface="Aptos"/>
                <a:cs typeface="Aptos"/>
              </a:rPr>
              <a:t>고객사 온라인 쇼핑몰 대상 | 4주 진단 및 구축 컨설팅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BE198-4AB2-4AB2-9D28-D3A05A94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2857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2D21E-FEB4-4163-B666-EC49BFCA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반복 업무 → 구조화 → 자동화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4527F-BD8E-4424-8E9D-F6B3511E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Source: McKinsey, Baymard, NRF, Salesforce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62697-855B-40ED-AD98-85234877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457660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7C0E41-CF26-4555-BDD5-71AEB777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393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E3932"/>
                </a:solidFill>
                <a:latin typeface="Aptos Display"/>
                <a:ea typeface="Aptos Display"/>
                <a:cs typeface="Aptos Display"/>
              </a:rPr>
              <a:t>왜 지금 AI 자동화가 필요한가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B8BC4-5110-44AF-BE1E-CF77271A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상품, 문의, 반품, 콘텐츠 업무가 동시에 늘어나는 온라인몰 운영 환경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F200D-E79F-48A2-B3DE-0DCE485F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BD676-FF82-42C2-B047-5E69AD60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C090D-E1EA-47CA-A72C-752C8181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업무량 증가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A7039-EBAE-4927-BB1B-968620C0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272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신상품 등록, 상세 설명, 배너 문구, 리뷰 확인이 매주 반복됩니다.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DE01C-93C5-4569-ADC7-89C9FA65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192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24E98-34DC-4479-BCB6-525DA6D2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19250"/>
            <a:ext cx="66675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9CD78-4B6F-4A63-8F2C-BE088A15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응대 속도 압박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84E69-780E-480A-B854-155DA636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71700"/>
            <a:ext cx="272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배송, 소재, 수납, 반품 문의가 누적되면 구매 전환과 만족도에 영향을 줍니다.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ABF1A-CECE-46E2-A146-86BE97CC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192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406E9-24AE-4DC4-AD89-E86BE4DB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19250"/>
            <a:ext cx="66675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26C75-EC15-42BF-913D-78E7F05D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097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AI 활용 기회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08641-C0E1-446B-925C-0D15B0E3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71700"/>
            <a:ext cx="272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McKinsey는 생성형 AI가 패션·럭셔리 분야 영업이익에 $150B-$275B 잠재효과를 낼 수 있다고 분석했습니다.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00B9A-92F8-4912-A33A-687E4E9A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24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6241"/>
                </a:solidFill>
                <a:latin typeface="Aptos"/>
                <a:ea typeface="Aptos"/>
                <a:cs typeface="Aptos"/>
              </a:rPr>
              <a:t>핵심 판단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11EFB-CE5D-493D-B253-032C93C7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가방몰 자동화의 출발점은 “AI 도구 구매”가 아니라 상품·문의·반품·리포트 업무가 반복되는 지점을 찾아 구조화하는 것입니다.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32577-CF23-4527-94F9-AEEAF7C6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Source: McKinsey, Generative AI in fashion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C3307-E59B-4F5B-B137-891704BF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44210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D7F06C-9097-470D-893E-F600F259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393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E3932"/>
                </a:solidFill>
                <a:latin typeface="Aptos Display"/>
                <a:ea typeface="Aptos Display"/>
                <a:cs typeface="Aptos Display"/>
              </a:rPr>
              <a:t>여성용 가방 온라인몰의 주요 페인포인트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9FFC1-992C-4154-9A82-CCFCFA57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대표와 소수 운영팀에 몰리는 반복 업무를 먼저 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73606-4EED-4761-8B49-7B9F43C2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143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D94D9-7B62-49C5-A416-65BCC32C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6675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0A37B-2B92-4307-9F00-A20EB694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상품 상세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56753-EBD4-40A5-9CB1-B1AAD15E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소재·크기·수납·착용컷 설명을 매번 새로 작성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A37CD-9325-4057-936E-82321C25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62100"/>
            <a:ext cx="3143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92130-B6BE-4C72-8F1E-21503683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62100"/>
            <a:ext cx="66675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959DE-6ED1-42DA-BB60-AF93C665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526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고객 문의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E9C4D-7C05-4C46-B8C5-8D1B80C2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배송·색상·수납·코디·반품 질문이 반복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218F0-95FE-4D6B-9B8E-5DB1DC0A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62100"/>
            <a:ext cx="3143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32CC8-C1D6-4861-BE2A-FFA79CAA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62100"/>
            <a:ext cx="66675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CDE4D-CD43-4FC2-8001-743B8384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526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반품/교환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915FE-DB81-440A-8B01-4C937C3D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사유 분류와 정책 안내가 수작업으로 누적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01ACB-5F29-4D2E-9F97-EB97A853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3143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867BA8-EBD1-4169-9F8C-4F163424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66675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E158F-21E3-4FAB-A5AC-1F93CF38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리뷰 관리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86160-03FE-4F75-BA11-9B269D43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리뷰 요약과 개선 포인트 추출이 늦어짐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F47CD7-6D5F-495C-82EC-2DC2B06B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76600"/>
            <a:ext cx="3143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DF5A9-A8B2-4404-92E7-2B19229B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76600"/>
            <a:ext cx="66675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AED38-069C-4757-BF67-6D3A8733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671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운영 판단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91FB3B-8AC1-42A1-BE5E-48524B7A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2905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주문·문의·리뷰 데이터를 연결해 보기 어려움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24ED3-85E7-4EA9-A75F-9D76ED5A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자동화 우선순위는 “자주 반복되고, 사람이 최종 확인하면 되는 업무”부터 잡습니다.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B0E8A9-2D83-4D70-BD33-E52CC63A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Source: 업계 운영 페인포인트 종합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0A45F3-A88D-4057-B826-F6057FF3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99859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CBA79F-8DE7-4D53-9586-FB95D3CE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393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E3932"/>
                </a:solidFill>
                <a:latin typeface="Aptos Display"/>
                <a:ea typeface="Aptos Display"/>
                <a:cs typeface="Aptos Display"/>
              </a:rPr>
              <a:t>구매 전환을 막는 고객 경험 문제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4BB8F-E8F3-4366-A65B-36D9B74B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장바구니 이탈은 가격, 배송, 신뢰, 절차 문제와 연결됩니다.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C6325-863F-42FE-B9AA-A32160FD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6241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006241"/>
                </a:solidFill>
                <a:latin typeface="Aptos Display"/>
                <a:ea typeface="Aptos Display"/>
                <a:cs typeface="Aptos Display"/>
              </a:rPr>
              <a:t>70.22%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65E94-475B-4F51-AB2D-7A9BC0C2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평균 문서화된 온라인 장바구니 이탈률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F2BFE-BB85-4DEC-88E2-8785BF82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추가 비용이 높음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81709-9FD8-4115-9348-972BF304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47825"/>
            <a:ext cx="3333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5AC74-A0EA-484F-B6A2-CF38EA75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47825"/>
            <a:ext cx="3250406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28F6A-B80F-4620-83E3-D27CF0B0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19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39%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6BAE7-E9C0-4356-8398-F327D3D6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05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배송이 느림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D738A-2F43-44CF-8AEF-3924B470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3333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C8B80-F3F9-42DB-B678-54B1D05A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1750219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34FA2-1036-4017-B806-05410FBC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05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21%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988AF-A1B8-4E4E-A903-D3BDB421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90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결제 신뢰 부족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66DF2-1066-4A25-B4AB-5C44CC26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19425"/>
            <a:ext cx="3333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8A23D-7C26-426E-B6FC-F0D7CF11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19425"/>
            <a:ext cx="1583531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D8DC9-09E6-4811-8E10-E257DAE6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90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19%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5E649-57A1-45BC-BCD2-5FEB35D1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76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체크아웃이 복잡함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1B04A3-C6DF-4F04-A726-2C365691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05225"/>
            <a:ext cx="3333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9FEFD-371D-419C-9700-810555D7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05225"/>
            <a:ext cx="1500188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0EF636-7B83-4BC1-838F-45F2BFF7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76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18%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1FFC23-3FD3-4F93-8C55-C67CA93A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62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반품 정책 불만족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42EF36-D04F-4F73-97D4-26812F4D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91025"/>
            <a:ext cx="3333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AE2857-20BE-45C6-A843-5A9D10E1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91025"/>
            <a:ext cx="1250156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B99F7C-01C5-42FE-9D89-08976DF9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62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4ECA04-46E3-4EED-8814-62E3D2F3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197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자동화 연결점: FAQ/정책 문구 정리, 배송·반품 안내 초안, 상품 상세의 구매 불안 요소 보강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EB73C5-6892-4039-ADF4-CFA35BE0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Source: Baymard cart abandonment research, 2025 update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B4F26B-A93C-44FA-BD71-CAA5A6B3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775279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CAA02C-7A10-4071-9892-53CEC632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393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E3932"/>
                </a:solidFill>
                <a:latin typeface="Aptos Display"/>
                <a:ea typeface="Aptos Display"/>
                <a:cs typeface="Aptos Display"/>
              </a:rPr>
              <a:t>반품/교환과 문의가 운영 시간을 잡아먹는다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E4BC3-055B-4B1C-A29A-0F986223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가방은 소재, 크기, 색상, 수납감이 구매 전후 문의를 만듭니다.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04E9A-4E29-44BC-95A9-B5B55A73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257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B436F-AF5C-4AE9-B927-F1F04F44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6241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006241"/>
                </a:solidFill>
                <a:latin typeface="Aptos"/>
                <a:ea typeface="Aptos"/>
                <a:cs typeface="Aptos"/>
              </a:rPr>
              <a:t>15.8%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8ADA5-AFE2-4120-9CCD-D23AC1F9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2025년 리테일</a:t>
            </a:r>
          </a:p>
          <a:p xmlns:a="http://schemas.openxmlformats.org/drawingml/2006/main">
            <a:pPr algn="l">
              <a:defRPr sz="135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예상 반품률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A5C7A-8787-43A2-B7F1-13764A62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257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F6B55-BF4C-4FDB-A76A-8F2BBD6B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$849.9B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966C9-175F-42DB-8286-B87D6043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2025년 예상</a:t>
            </a:r>
          </a:p>
          <a:p xmlns:a="http://schemas.openxmlformats.org/drawingml/2006/main">
            <a:pPr algn="l">
              <a:defRPr sz="135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반품 규모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39183-1291-4286-A111-684EA670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38300"/>
            <a:ext cx="31432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3EAD6-FB89-4AD3-8340-C23EFF20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38300"/>
            <a:ext cx="66675" cy="2724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9AD50-E893-4B23-8A2F-BD53A950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24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반복되는 반품 문의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4EF03-04BB-41B1-B2C6-BFDB71DC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81250"/>
            <a:ext cx="2476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색상 차이, 수납공간, 소재감, 스트랩 길이, 배송비와 교환 절차가 고객마다 반복 질문으로 이어집니다.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D278D-B77D-465C-8CB0-18E05DE9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38300"/>
            <a:ext cx="31432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FCA39-096C-4249-8502-0602A475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38300"/>
            <a:ext cx="66675" cy="2724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629BB-C156-4D8D-B215-8711984F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24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AI 자동화 적용점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E1A5C-5FAD-406E-B204-A5B16CC3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2476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문의 유형 분류, 정책 기반 답변 초안, 반품 사유 집계, 상품 설명 보완 포인트를 자동으로 정리합니다.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1F567-5195-4961-BC2F-86DC0C22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00600"/>
            <a:ext cx="67056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613FD-FC7F-490B-BC3E-0E9AC9EA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운영 원칙: AI가 바로 답변을 확정하지 않고, 직원이 승인하는 초안 중심으로 시작합니다.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CFF31-6B60-4310-AC52-3A6AFACA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Source: MarketWatch citing NRF returns report; Salesforce AI customer trust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54F050-4BCE-4151-93A9-37E4A215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42781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DC2726-82ED-48E8-BE13-5DC86D2F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393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E3932"/>
                </a:solidFill>
                <a:latin typeface="Aptos Display"/>
                <a:ea typeface="Aptos Display"/>
                <a:cs typeface="Aptos Display"/>
              </a:rPr>
              <a:t>제안 솔루션: Codex 기반 업무 자동화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05C41-1BE6-437F-8F99-DA7E45F6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AI 도구 하나를 사는 것이 아니라, 반복 업무가 굴러가는 구조를 만듭니다.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D9FC8-116E-4504-97E3-22D78FC9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562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7AD4E-8D82-46D0-9190-A26EFF25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상품/문의/리뷰</a:t>
            </a:r>
          </a:p>
          <a:p xmlns:a="http://schemas.openxmlformats.org/drawingml/2006/main">
            <a:pPr algn="ctr">
              <a:defRPr sz="1425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데이터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504E5-CD5A-4869-BDC9-C1D82660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71750"/>
            <a:ext cx="5143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AFE2D-A9E6-4455-85DB-8B962534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90750"/>
            <a:ext cx="1562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C3A92-2472-4756-85F7-698B7B4E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574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Codex 작업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초안 생성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67327-362D-4E90-A59A-1B36513A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71750"/>
            <a:ext cx="5143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4010F-C10A-47DB-B3C5-5D10C333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1562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7B5A3-1074-40DC-9D2E-69969B69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574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직원 검토</a:t>
            </a:r>
          </a:p>
          <a:p xmlns:a="http://schemas.openxmlformats.org/drawingml/2006/main">
            <a:pPr algn="ctr">
              <a:defRPr sz="1425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승인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26E7C-C94B-4EBC-85C1-545828EB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5143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1E1FC-B722-4686-AEDF-E4845925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90750"/>
            <a:ext cx="1562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45F13-9567-4B32-96D3-37802C3C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고객 응대/</a:t>
            </a:r>
          </a:p>
          <a:p xmlns:a="http://schemas.openxmlformats.org/drawingml/2006/main">
            <a:pPr algn="ctr">
              <a:defRPr sz="1425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콘텐츠 반영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6BE05-4DF2-4B73-9277-A2477492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71750"/>
            <a:ext cx="5143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B7CCB-517B-4392-8936-57B8D532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1562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2D8D9-C4A3-44C3-82A6-BBBE4F3C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574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주간 리포트</a:t>
            </a:r>
          </a:p>
          <a:p xmlns:a="http://schemas.openxmlformats.org/drawingml/2006/main">
            <a:pPr algn="ctr">
              <a:defRPr sz="1425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개선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F7F7E1-3087-4898-88C2-4974DC1F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952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CBDE8D-FED0-4F50-8EF4-EE97C77E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666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9BAAC-DAF3-4B17-A4CF-EBC25766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00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핵심 통제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8894B8-14EC-4B66-9009-2BD973A3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196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최종 발송과 게시 전에는</a:t>
            </a:r>
          </a:p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사람이 승인합니다.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C0AEC9-FE33-4550-AB6A-A9A82436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71950"/>
            <a:ext cx="2952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AE2839-7A66-4A97-8AC4-EEED6F4B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71950"/>
            <a:ext cx="666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A7D1CB-9473-4F85-AA9E-DE203852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00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도구 연결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153508-BE84-4525-910A-26E86E54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196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Codex, Claude Code, n8n을</a:t>
            </a:r>
          </a:p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업무 흐름에 맞춰 연결합니다.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92F9B4-B1CB-45F1-ACC4-78B66C92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71950"/>
            <a:ext cx="2952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565C52-17F6-499F-8525-363BC2A1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71950"/>
            <a:ext cx="666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C32A92-84E1-4D86-BAE7-73661ACD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00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작게 시작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281989-4F80-4301-B8D1-64A5190E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96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문의·상품·리포트 중</a:t>
            </a:r>
          </a:p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효과 큰 영역부터 구축합니다.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5564CA-7DB1-484E-A616-F4812E66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Source: McKinsey use cases; user-provided consulting context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BEE09E-916F-40BC-B01F-9C38D26B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501733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dbf3f00584f0a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05625" y="1162050"/>
            <a:ext cx="4095750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0BD4F-32B7-4B69-8E77-7C490459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393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E3932"/>
                </a:solidFill>
                <a:latin typeface="Aptos Display"/>
                <a:ea typeface="Aptos Display"/>
                <a:cs typeface="Aptos Display"/>
              </a:rPr>
              <a:t>자동화 적용 영역 5가지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E0E91-4F95-4C78-B147-9157C276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바로 적용 가능한 업무부터 작게 시작합니다.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928E2-A473-4504-BF33-30057621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478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5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54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87F8F-FB27-4DBB-A3E7-B3093C9F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47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상품 상세 초안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664E2-61C3-4B36-A9A1-220F51F0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소재·수납·코디 포인트를 상품별 설명 초안으로 정리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E660C-12B5-4DB9-87C9-DDDA579F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5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54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CD2F1-A78B-469F-A1FA-9FE50CC8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CS 답변 초안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6431C-1A7F-4FE5-8A19-6B9D5C38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336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반복 문의를 정책과 상품 정보에 맞춰 답변 초안화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7D6539-B79D-454A-A956-C0156477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5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5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F701B-7027-4944-95FE-E01A7A99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9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반품/교환 분류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89C59-2B0C-4AF2-A21E-5CA0A20A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147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사유를 자동 태깅해 상품 개선과 정책 안내에 활용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3256CB-D654-43EB-8D61-67FB0B4D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5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54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67115-FAE6-463C-BA83-FB5C8500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리뷰 요약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44CEC-117B-4789-85D1-063945B9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고객 반응을 장점·불만·개선 포인트로 요약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67D71-3412-47F0-B4BB-F9404571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5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54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8DC24-39EF-40B6-B865-9D961D81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주간 운영 리포트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7C6088-A145-4C3F-BA89-7C3CE663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주문·문의·리뷰 변화를 대표가 보는 요약으로 정리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8F9065-9AB4-47C2-B527-9418F3D6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Source: McKinsey fashion AI use cases; workflow design assumptions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C7ECA8-6A80-4580-BDA7-D639F608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44788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82853A-45A7-43B5-936A-CC6DAC1E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393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E3932"/>
                </a:solidFill>
                <a:latin typeface="Aptos Display"/>
                <a:ea typeface="Aptos Display"/>
                <a:cs typeface="Aptos Display"/>
              </a:rPr>
              <a:t>4주 구축 로드맵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9B60B-8E35-4C13-949D-ADEF4780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진단, 설계, 구축, 운영 정착 순서로 위험을 줄입니다.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A9803-7693-434C-A8F6-D6FAE690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2266950" cy="29146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16A6A-C292-423E-911A-AFD523F9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5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754A"/>
                </a:solidFill>
                <a:latin typeface="Aptos"/>
                <a:ea typeface="Aptos"/>
                <a:cs typeface="Aptos"/>
              </a:rPr>
              <a:t>1주차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A0542-0F29-4F56-9D04-4C831B9E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업무 진단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A8E8A-0200-4AEB-A6DC-7417B602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반복 업무 목록</a:t>
            </a:r>
          </a:p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자료 위치</a:t>
            </a:r>
          </a:p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문의 유형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C09AC-A4C8-4E3F-A6C1-508866A5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524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6262E-9775-4600-9FD8-CF68CDEA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33550"/>
            <a:ext cx="2266950" cy="29146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3818D-DEBC-4C38-B87F-8E02577A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00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5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754A"/>
                </a:solidFill>
                <a:latin typeface="Aptos"/>
                <a:ea typeface="Aptos"/>
                <a:cs typeface="Aptos"/>
              </a:rPr>
              <a:t>2주차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BA1CF-6DC1-4CFC-8620-57EEA6CF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003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자동화 설계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1AD82-89B3-4A05-AE97-D181A203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4800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우선순위 선정</a:t>
            </a:r>
          </a:p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승인 흐름</a:t>
            </a:r>
          </a:p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데이터 연결 방식 정의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F1556-E7B1-40FB-8792-531EDCDD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52900"/>
            <a:ext cx="1524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4FF1C-BE93-4C7C-8A7E-8C9B40BD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33550"/>
            <a:ext cx="2266950" cy="29146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16749-03DC-42B4-9784-0EC87FA6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00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5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754A"/>
                </a:solidFill>
                <a:latin typeface="Aptos"/>
                <a:ea typeface="Aptos"/>
                <a:cs typeface="Aptos"/>
              </a:rPr>
              <a:t>3주차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968322-4538-49F6-B545-C98185EF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프로토타입 구축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E39CC-A11A-4FF0-BEA5-07200690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4800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상품/CS/리포트</a:t>
            </a:r>
          </a:p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자동화 초안 흐름 제작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9E42B3-AABB-4ACF-B09B-9FCEEC25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52900"/>
            <a:ext cx="1524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16652-0CAE-47AA-A696-FB0EAF7E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33550"/>
            <a:ext cx="2266950" cy="29146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17B94F-1AC6-4D0A-95E4-F83B1094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00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5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754A"/>
                </a:solidFill>
                <a:latin typeface="Aptos"/>
                <a:ea typeface="Aptos"/>
                <a:cs typeface="Aptos"/>
              </a:rPr>
              <a:t>4주차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FF0AA-3990-4F31-9381-08887550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003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운영 정착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8B347B-D388-4435-B3E9-EC89C08E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4800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사용법 정리</a:t>
            </a:r>
          </a:p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예외 처리</a:t>
            </a:r>
          </a:p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개선 지표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EEE8C0-B95A-423E-B9BC-888C77D7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52900"/>
            <a:ext cx="1524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BF246C-E5FE-4847-BBC8-9D2E8381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9239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C3DAD4-7D0F-4011-9C49-9BFA77A5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5900"/>
            <a:ext cx="866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원칙: 큰 개발 프로젝트가 아니라, 대표와 운영팀이 바로 써볼 수 있는 작은 자동화부터 검증합니다.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FFB662-2F05-42EC-927E-40DFFFAB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Source: Consulting delivery model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FA35ED-098D-4A66-B395-D3FE78B9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8901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5c44fd7974c26"/>
          <a:srcRect xmlns:a="http://schemas.openxmlformats.org/drawingml/2006/main" l="24540" t="0" r="245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200150"/>
            <a:ext cx="3619500" cy="4000500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F1FD7-7315-4258-A53B-A502C1EB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393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E3932"/>
                </a:solidFill>
                <a:latin typeface="Aptos Display"/>
                <a:ea typeface="Aptos Display"/>
                <a:cs typeface="Aptos Display"/>
              </a:rPr>
              <a:t>기대 효과와 관리 지표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49C0C-6B3E-4F7A-BB01-01447E1E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자동화 효과는 감으로 보지 않고 지표로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1FAE8-1264-4326-9B2A-4C65C36B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5667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ADE56-E4DF-4DB3-9530-BB8441C2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716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문의 1차 응답 시간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35BA5-167E-4663-9D46-E9479AC1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716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반복 질문 초안화로 응답 지연 감소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0C43C-98CC-4F05-9528-879007F6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5667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6F1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830E3-9D96-4463-8AF8-DAD3B775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955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상품 등록 소요 시간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C9C92-7D0C-4269-B960-F00C8163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95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상세 설명 초안과 검수 흐름 표준화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4F110-3543-43C0-A0F4-D56697BD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5667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81C02-CD6F-4236-A26A-E534CD98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194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반복 문의 비중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59AC0-71F4-4EF5-B3DB-52D0E48A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194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FAQ와 상세페이지 보완 포인트 추적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1E992-66D3-4E3C-B689-3375A523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5667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6F1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E2C20-4EE3-46EB-B592-4CCF03C7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433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반품 사유 분류율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1F0D2-0BD9-48C5-8A52-945062AC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433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반품 원인을 태그로 모아 개선에 활용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80E69-1759-4AEB-AC76-91FE2EB9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5667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9E40D-2749-4A48-9463-4C051F8D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672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39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3932"/>
                </a:solidFill>
                <a:latin typeface="Aptos"/>
                <a:ea typeface="Aptos"/>
                <a:cs typeface="Aptos"/>
              </a:rPr>
              <a:t>주간 리포트 작성 시간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8F941-66E3-4F19-ADF2-60B6A5D6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672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대표용 운영 요약을 자동 초안화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809E1-7065-4A74-919D-06A71BA8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Source: Baymard checkout research; consulting KPI framework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B1140-F6D9-4602-BB79-2930E3A4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788909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E39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556981-21F2-47B7-8DBE-D9C83838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다음 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9499C-5905-49DE-99B7-7A507271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4E9E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4E9E2"/>
                </a:solidFill>
                <a:latin typeface="Aptos"/>
                <a:ea typeface="Aptos"/>
                <a:cs typeface="Aptos"/>
              </a:rPr>
              <a:t>다음 미팅에서 실제 반복 업무와 데이터 연결 가능성을 확인합니다.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9C638-7176-4FC4-97C3-0218FA86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139FB-10EC-4275-899F-744464B4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6BA07-C295-4DB0-A84F-01A74EE6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907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고객사명과 발표 대상 확정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C2CA7-4981-4B3A-8710-74F9D797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C6D81-8FE4-4D16-A893-41388492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38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9C391-758B-4EE2-B45A-D6D02061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03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주요 반복 문의 30건 샘플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C0E55-B882-429D-864D-E27CE5FB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9F08C-023C-4378-9CFB-4395A2D9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726F7-4F31-495F-B90F-57C030AC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00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상품 등록 양식과 상세페이지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AFF18-F33D-456C-B12E-67B69C4F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8D0CB-EFE2-406D-A974-E190B7DE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28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D4224-34A8-4E5B-BBF7-9643DFD4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907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반품/교환 정책과 사유 목록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A5195-BB0D-4BBF-9E5A-F8432A65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0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CB227-129C-49A4-A6BE-507ABB58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ADB5AB-596F-4AD6-94D8-4DAE52BA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03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사용 중인 쇼핑몰·CS·문서 도구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F2D567-24A8-4801-AB17-24FBD8FA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A10F1C-776F-4F69-BBF8-CDBDE5E5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EF4A1-FFF3-4B2C-ADF2-96BC24D7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100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가격 정보와 4주 이후 운영 지원 범위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036DA-00F2-4B74-9BB0-3C7EA456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2381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1C25B3-4CDD-4A9C-AE4B-59C20B79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257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제안 범위 확정 미팅 진행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C72F6F-4ECE-4643-B67B-D816199A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D7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D7CE"/>
                </a:solidFill>
                <a:latin typeface="Aptos"/>
                <a:ea typeface="Aptos"/>
                <a:cs typeface="Aptos"/>
              </a:rPr>
              <a:t>상세 출처: Baymard, McKinsey, NRF/MarketWatch, Salesforce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453DD5-A395-48E7-BCF6-FF4073F3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Source: All sources listed in speaker notes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8441B4-0B83-4785-A63E-1066B944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42628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2026-06-23T13:19:06.6880000Z</dcterms:created>
  <dcterms:modified xsi:type="dcterms:W3CDTF">2026-06-23T13:19:06.6880000Z</dcterms:modified>
</coreProperties>
</file>